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1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charts/chart2.xml" ContentType="application/vnd.openxmlformats-officedocument.drawingml.chart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1E293B"/>
                </a:solidFill>
                <a:latin typeface="Arial"/>
              </a:defRPr>
            </a:pPr>
            <a:r>
              <a:rPr sz="1200" b="0" i="0" u="none" strike="noStrike">
                <a:solidFill>
                  <a:srgbClr val="1E293B"/>
                </a:solidFill>
                <a:latin typeface="Arial"/>
              </a:rPr>
              <a:t>Cosine Similarity vs 窗口長度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hsuan (目標)</c:v>
                </c:pt>
              </c:strCache>
            </c:strRef>
          </c:tx>
          <c:spPr>
            <a:solidFill>
              <a:srgbClr val="028090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E293B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0.5s</c:v>
                  </c:pt>
                  <c:pt idx="1">
                    <c:v>1.0s</c:v>
                  </c:pt>
                  <c:pt idx="2">
                    <c:v>2.0s</c:v>
                  </c:pt>
                  <c:pt idx="3">
                    <c:v>3.0s</c:v>
                  </c:pt>
                  <c:pt idx="4">
                    <c:v>全長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0.385</c:v>
                </c:pt>
                <c:pt idx="1">
                  <c:v>0.548</c:v>
                </c:pt>
                <c:pt idx="2">
                  <c:v>0.656</c:v>
                </c:pt>
                <c:pt idx="3">
                  <c:v>0.692</c:v>
                </c:pt>
                <c:pt idx="4">
                  <c:v>0.761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0911 (干擾)</c:v>
                </c:pt>
              </c:strCache>
            </c:strRef>
          </c:tx>
          <c:spPr>
            <a:solidFill>
              <a:srgbClr val="EF4444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E293B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0.5s</c:v>
                  </c:pt>
                  <c:pt idx="1">
                    <c:v>1.0s</c:v>
                  </c:pt>
                  <c:pt idx="2">
                    <c:v>2.0s</c:v>
                  </c:pt>
                  <c:pt idx="3">
                    <c:v>3.0s</c:v>
                  </c:pt>
                  <c:pt idx="4">
                    <c:v>全長</c:v>
                  </c:pt>
                </c:lvl>
              </c:multiLvlStrCache>
            </c:multiLvl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0.071</c:v>
                </c:pt>
                <c:pt idx="1">
                  <c:v>0.114</c:v>
                </c:pt>
                <c:pt idx="2">
                  <c:v>0.13</c:v>
                </c:pt>
                <c:pt idx="3">
                  <c:v>0.136</c:v>
                </c:pt>
                <c:pt idx="4">
                  <c:v>0.162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1E293B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</c:legend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1E293B"/>
                </a:solidFill>
                <a:latin typeface="Arial"/>
              </a:defRPr>
            </a:pPr>
            <a:r>
              <a:rPr sz="1100" b="0" i="0" u="none" strike="noStrike">
                <a:solidFill>
                  <a:srgbClr val="1E293B"/>
                </a:solidFill>
                <a:latin typeface="Arial"/>
              </a:rPr>
              <a:t>推論延遲 (ms/幀)  — CAM++ 14.2ms 遠高於其他模型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推論延遲 (ms/幀)</c:v>
                </c:pt>
              </c:strCache>
            </c:strRef>
          </c:tx>
          <c:spPr>
            <a:solidFill>
              <a:srgbClr val="1C7293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1E293B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1C7293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1C7293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028090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028090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02C39A"/>
              </a:solidFill>
              <a:effectLst/>
            </c:spPr>
          </c:dPt>
          <c:dPt>
            <c:idx val="5"/>
            <c:invertIfNegative val="0"/>
            <c:bubble3D val="0"/>
            <c:spPr>
              <a:solidFill>
                <a:srgbClr val="F59E0B"/>
              </a:solidFill>
              <a:effectLst/>
            </c:spPr>
          </c:dPt>
          <c:dPt>
            <c:idx val="6"/>
            <c:invertIfNegative val="0"/>
            <c:bubble3D val="0"/>
            <c:spPr>
              <a:solidFill>
                <a:srgbClr val="EF4444"/>
              </a:solidFill>
              <a:effectLst/>
            </c:spPr>
          </c:dPt>
          <c:cat>
            <c:multiLvlStrRef>
              <c:f>Sheet1!$A$2:$A$8</c:f>
              <c:multiLvlStrCache>
                <c:ptCount val="7"/>
                <c:lvl>
                  <c:pt idx="0">
                    <c:v>CNN
(SD)</c:v>
                  </c:pt>
                  <c:pt idx="1">
                    <c:v>MLP
(SD)</c:v>
                  </c:pt>
                  <c:pt idx="2">
                    <c:v>BiLSTM
(SD)</c:v>
                  </c:pt>
                  <c:pt idx="3">
                    <c:v>BiGRU
+Attn</c:v>
                  </c:pt>
                  <c:pt idx="4">
                    <c:v>GTCRN</c:v>
                  </c:pt>
                  <c:pt idx="5">
                    <c:v>Personal
VAD</c:v>
                  </c:pt>
                  <c:pt idx="6">
                    <c:v>CAM++
pVAD</c:v>
                  </c:pt>
                </c:lvl>
              </c:multiLvlStrCache>
            </c:multiLvl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0.3</c:v>
                </c:pt>
                <c:pt idx="1">
                  <c:v>0.5</c:v>
                </c:pt>
                <c:pt idx="2">
                  <c:v>1</c:v>
                </c:pt>
                <c:pt idx="3">
                  <c:v>1.5</c:v>
                </c:pt>
                <c:pt idx="4">
                  <c:v>1.08</c:v>
                </c:pt>
                <c:pt idx="5">
                  <c:v>1</c:v>
                </c:pt>
                <c:pt idx="6">
                  <c:v>14.2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900" u="none">
                  <a:solidFill>
                    <a:srgbClr val="1E293B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25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57200" cy="51435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0"/>
            <a:ext cx="91440" cy="514350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14400" y="1097280"/>
            <a:ext cx="7772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pVAD-SE Pipeline v3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914400" y="2103120"/>
            <a:ext cx="7772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9ECF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個人語音活動偵測 + 語音增強 — 完整架構比較報告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914400" y="2743200"/>
            <a:ext cx="7772400" cy="18288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2834640"/>
            <a:ext cx="7772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7FBF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CAM++ Speaker Encoder  |  GTCRN Denoiser  |  SD Multi-Architecture  |  RTF=0.253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914400" y="438912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7FBF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2026.03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25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91440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報告目錄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320040" y="868680"/>
            <a:ext cx="411480" cy="41148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0040" y="86868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01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822960" y="877824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問題背景與動機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822960" y="1106424"/>
            <a:ext cx="3474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ECF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舊架構缺失、設計目標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20040" y="1673352"/>
            <a:ext cx="411480" cy="41148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20040" y="1673352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02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822960" y="1682496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pVAD-SE 架構總覽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822960" y="1911096"/>
            <a:ext cx="3474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ECF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並行管道、Soft Gating、RTF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20040" y="2478024"/>
            <a:ext cx="411480" cy="41148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20040" y="2478024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03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822960" y="2487168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CAM++ 窗口限制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822960" y="2715768"/>
            <a:ext cx="3474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ECF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短窗口 cosine sim 衰減分析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20040" y="3282696"/>
            <a:ext cx="411480" cy="41148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20040" y="3282696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04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822960" y="3291840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測試場景設定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822960" y="3520440"/>
            <a:ext cx="3474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ECF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A/B/C/D 四場景說明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320040" y="4087368"/>
            <a:ext cx="411480" cy="41148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20040" y="4087368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05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822960" y="4096512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SD 架構全面比較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822960" y="4325112"/>
            <a:ext cx="3474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ECF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MLP/BiLSTM/BiGRU+Attn/CNN/SVM/RF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709160" y="868680"/>
            <a:ext cx="411480" cy="41148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709160" y="86868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06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5212080" y="877824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噪音增強效果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5212080" y="1106424"/>
            <a:ext cx="3474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ECF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訓練增強前後 F1 對比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4709160" y="1673352"/>
            <a:ext cx="411480" cy="41148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709160" y="1673352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07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5212080" y="1682496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場景C 詳細分析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5212080" y="1911096"/>
            <a:ext cx="3474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ECF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白噪音 SNR 10dB 各模型表現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4709160" y="2478024"/>
            <a:ext cx="411480" cy="41148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709160" y="2478024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08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5212080" y="2487168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LSTM 模式比較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5212080" y="2715768"/>
            <a:ext cx="3474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ECF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SD模式 vs pVAD模式 vs pVAD-SE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4709160" y="3282696"/>
            <a:ext cx="411480" cy="41148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709160" y="3282696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09</a:t>
            </a:r>
            <a:endParaRPr lang="en-US" sz="1300" dirty="0"/>
          </a:p>
        </p:txBody>
      </p:sp>
      <p:sp>
        <p:nvSpPr>
          <p:cNvPr id="38" name="Text 36"/>
          <p:cNvSpPr/>
          <p:nvPr/>
        </p:nvSpPr>
        <p:spPr>
          <a:xfrm>
            <a:off x="5212080" y="3291840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延遲與效率</a:t>
            </a:r>
            <a:endParaRPr lang="en-US" sz="1300" dirty="0"/>
          </a:p>
        </p:txBody>
      </p:sp>
      <p:sp>
        <p:nvSpPr>
          <p:cNvPr id="39" name="Text 37"/>
          <p:cNvSpPr/>
          <p:nvPr/>
        </p:nvSpPr>
        <p:spPr>
          <a:xfrm>
            <a:off x="5212080" y="3520440"/>
            <a:ext cx="3474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ECF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各模型推論延遲、參數量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4709160" y="4087368"/>
            <a:ext cx="411480" cy="41148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709160" y="4087368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10</a:t>
            </a:r>
            <a:endParaRPr lang="en-US" sz="1300" dirty="0"/>
          </a:p>
        </p:txBody>
      </p:sp>
      <p:sp>
        <p:nvSpPr>
          <p:cNvPr id="42" name="Text 40"/>
          <p:cNvSpPr/>
          <p:nvPr/>
        </p:nvSpPr>
        <p:spPr>
          <a:xfrm>
            <a:off x="5212080" y="4096512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綜合結論與音檔展示</a:t>
            </a:r>
            <a:endParaRPr lang="en-US" sz="1300" dirty="0"/>
          </a:p>
        </p:txBody>
      </p:sp>
      <p:sp>
        <p:nvSpPr>
          <p:cNvPr id="43" name="Text 41"/>
          <p:cNvSpPr/>
          <p:nvPr/>
        </p:nvSpPr>
        <p:spPr>
          <a:xfrm>
            <a:off x="5212080" y="4325112"/>
            <a:ext cx="3474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ECF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最終比較 + 音檔清單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問題背景與動機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365760" y="694944"/>
            <a:ext cx="8412480" cy="2286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20040" y="777240"/>
            <a:ext cx="4160520" cy="914400"/>
          </a:xfrm>
          <a:prstGeom prst="rect">
            <a:avLst/>
          </a:prstGeom>
          <a:solidFill>
            <a:srgbClr val="FFF8F8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20040" y="777240"/>
            <a:ext cx="64008" cy="91440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84632" y="850392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B9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舊架構: SDMFCC + SVM/MLP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84632" y="1161288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使用45維 MFCC+Delta 特徵，僅用目標語者訓練（未含其他語者為負樣本）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754880" y="777240"/>
            <a:ext cx="4160520" cy="914400"/>
          </a:xfrm>
          <a:prstGeom prst="rect">
            <a:avLst/>
          </a:prstGeom>
          <a:solidFill>
            <a:srgbClr val="FFF8F8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754880" y="777240"/>
            <a:ext cx="64008" cy="91440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919472" y="850392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B9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問題: 場景C 完全失效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919472" y="1161288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白噪音下 SDMFCC 無法區分，interferer 和 target 同樣輸出100%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20040" y="1828800"/>
            <a:ext cx="4160520" cy="914400"/>
          </a:xfrm>
          <a:prstGeom prst="rect">
            <a:avLst/>
          </a:prstGeom>
          <a:solidFill>
            <a:srgbClr val="FFF8F8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20040" y="1828800"/>
            <a:ext cx="64008" cy="91440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84632" y="1901952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B9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舊架構: Silero VAD + CAM++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84632" y="2212848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先偵測語音段落，再用 CAM++ 做說話者身份確認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754880" y="1828800"/>
            <a:ext cx="4160520" cy="914400"/>
          </a:xfrm>
          <a:prstGeom prst="rect">
            <a:avLst/>
          </a:prstGeom>
          <a:solidFill>
            <a:srgbClr val="FFF8F8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754880" y="1828800"/>
            <a:ext cx="64008" cy="91440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919472" y="1901952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B9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問題: 無法即時串流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919472" y="2212848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Silero VAD 需要完整語音段，CAM++ 需要 3-5s 窗口才穩定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320040" y="2834640"/>
            <a:ext cx="8503920" cy="685800"/>
          </a:xfrm>
          <a:prstGeom prst="rect">
            <a:avLst/>
          </a:prstGeom>
          <a:solidFill>
            <a:srgbClr val="0A2540"/>
          </a:solidFill>
          <a:ln w="12700">
            <a:solidFill>
              <a:srgbClr val="0A254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57200" y="288036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本次目標: 建構 pVAD-SE 並行管道 + 完整說話者相依模型比較，探討不同架構在雜訊場景下的魯棒性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320040" y="3611880"/>
            <a:ext cx="2743200" cy="13716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20040" y="3648456"/>
            <a:ext cx="2743200" cy="7543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pVAD-SE v3</a:t>
            </a:r>
            <a:endParaRPr lang="en-US" sz="2200" dirty="0"/>
          </a:p>
        </p:txBody>
      </p:sp>
      <p:sp>
        <p:nvSpPr>
          <p:cNvPr id="24" name="Text 22"/>
          <p:cNvSpPr/>
          <p:nvPr/>
        </p:nvSpPr>
        <p:spPr>
          <a:xfrm>
            <a:off x="320040" y="4325112"/>
            <a:ext cx="274320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CAM++ pVAD ∥ GTCRN 去噪 → Soft Gating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320040" y="4160520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CAM++ pVAD ∥ GTCRN 去噪 → Soft Gating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3200400" y="3611880"/>
            <a:ext cx="2743200" cy="137160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200400" y="3648456"/>
            <a:ext cx="2743200" cy="7543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Speaker-Dependent</a:t>
            </a:r>
            <a:endParaRPr lang="en-US" sz="2200" dirty="0"/>
          </a:p>
        </p:txBody>
      </p:sp>
      <p:sp>
        <p:nvSpPr>
          <p:cNvPr id="28" name="Text 26"/>
          <p:cNvSpPr/>
          <p:nvPr/>
        </p:nvSpPr>
        <p:spPr>
          <a:xfrm>
            <a:off x="3200400" y="4325112"/>
            <a:ext cx="274320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SDMFCC 45維 + 6種架構 + 噪音增強訓練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3200400" y="4160520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SDMFCC 45維 + 6種架構 + 噪音增強訓練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6080760" y="3611880"/>
            <a:ext cx="2743200" cy="1371600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080760" y="3648456"/>
            <a:ext cx="2743200" cy="7543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逐幀比較</a:t>
            </a:r>
            <a:endParaRPr lang="en-US" sz="2200" dirty="0"/>
          </a:p>
        </p:txBody>
      </p:sp>
      <p:sp>
        <p:nvSpPr>
          <p:cNvPr id="32" name="Text 30"/>
          <p:cNvSpPr/>
          <p:nvPr/>
        </p:nvSpPr>
        <p:spPr>
          <a:xfrm>
            <a:off x="6080760" y="4325112"/>
            <a:ext cx="274320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延遲、精確率、召回率、F1 Score 全面評估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6080760" y="4160520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延遲、精確率、召回率、F1 Score 全面評估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pVAD-SE 並行管道架構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365760" y="694944"/>
            <a:ext cx="8412480" cy="2286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474720" y="804672"/>
            <a:ext cx="2194560" cy="457200"/>
          </a:xfrm>
          <a:prstGeom prst="rect">
            <a:avLst/>
          </a:prstGeom>
          <a:solidFill>
            <a:srgbClr val="0A2540"/>
          </a:solidFill>
          <a:ln w="12700">
            <a:solidFill>
              <a:srgbClr val="0A254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474720" y="804672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輸入音頻 16kHz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572000" y="1261872"/>
            <a:ext cx="0" cy="320040"/>
          </a:xfrm>
          <a:prstGeom prst="line">
            <a:avLst/>
          </a:prstGeom>
          <a:noFill/>
          <a:ln w="25400">
            <a:solidFill>
              <a:srgbClr val="02809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1581912"/>
            <a:ext cx="3474720" cy="1234440"/>
          </a:xfrm>
          <a:prstGeom prst="rect">
            <a:avLst/>
          </a:prstGeom>
          <a:solidFill>
            <a:srgbClr val="F0FAFC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57200" y="1581912"/>
            <a:ext cx="64008" cy="123444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21792" y="1627632"/>
            <a:ext cx="3154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 A: GTCRN 去噪器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21792" y="1920240"/>
            <a:ext cx="31546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82,580 參數 | 523 KB
</a:t>
            </a:r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NFFT=512, HOP=256 (16ms/幀)
</a:t>
            </a:r>
            <a:pPr indent="0" marL="0"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延遲: 1.08ms/幀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212080" y="1581912"/>
            <a:ext cx="3474720" cy="1234440"/>
          </a:xfrm>
          <a:prstGeom prst="rect">
            <a:avLst/>
          </a:prstGeom>
          <a:solidFill>
            <a:srgbClr val="FFFBF0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5212080" y="1581912"/>
            <a:ext cx="64008" cy="123444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376672" y="1627632"/>
            <a:ext cx="3154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 B: pVAD (CAM++)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5376672" y="1920240"/>
            <a:ext cx="31546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6,907,680 參數 | 27 MB
</a:t>
            </a:r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dim=192 | Cosine Sim + EMA λ=0.6
</a:t>
            </a:r>
            <a:pPr indent="0" marL="0"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延遲: 14.2ms / 32幀(1s窗口)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3474720" y="2194560"/>
            <a:ext cx="-1371600" cy="0"/>
          </a:xfrm>
          <a:prstGeom prst="line">
            <a:avLst/>
          </a:prstGeom>
          <a:noFill/>
          <a:ln w="19050">
            <a:solidFill>
              <a:srgbClr val="028090"/>
            </a:solidFill>
            <a:prstDash val="dash"/>
          </a:ln>
        </p:spPr>
      </p:sp>
      <p:sp>
        <p:nvSpPr>
          <p:cNvPr id="16" name="Shape 14"/>
          <p:cNvSpPr/>
          <p:nvPr/>
        </p:nvSpPr>
        <p:spPr>
          <a:xfrm>
            <a:off x="5669280" y="2194560"/>
            <a:ext cx="1371600" cy="0"/>
          </a:xfrm>
          <a:prstGeom prst="line">
            <a:avLst/>
          </a:prstGeom>
          <a:noFill/>
          <a:ln w="19050">
            <a:solidFill>
              <a:srgbClr val="F59E0B"/>
            </a:solidFill>
            <a:prstDash val="dash"/>
          </a:ln>
        </p:spPr>
      </p:sp>
      <p:sp>
        <p:nvSpPr>
          <p:cNvPr id="17" name="Shape 15"/>
          <p:cNvSpPr/>
          <p:nvPr/>
        </p:nvSpPr>
        <p:spPr>
          <a:xfrm>
            <a:off x="2103120" y="2194560"/>
            <a:ext cx="0" cy="457200"/>
          </a:xfrm>
          <a:prstGeom prst="line">
            <a:avLst/>
          </a:prstGeom>
          <a:noFill/>
          <a:ln w="19050">
            <a:solidFill>
              <a:srgbClr val="02809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040880" y="2194560"/>
            <a:ext cx="0" cy="457200"/>
          </a:xfrm>
          <a:prstGeom prst="line">
            <a:avLst/>
          </a:prstGeom>
          <a:noFill/>
          <a:ln w="19050">
            <a:solidFill>
              <a:srgbClr val="F59E0B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286000" y="2816352"/>
            <a:ext cx="4572000" cy="594360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2286000" y="2816352"/>
            <a:ext cx="4572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Soft Gate: output = denoised × gain(is_target, confidence)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572000" y="3410712"/>
            <a:ext cx="0" cy="274320"/>
          </a:xfrm>
          <a:prstGeom prst="line">
            <a:avLst/>
          </a:prstGeom>
          <a:noFill/>
          <a:ln w="25400">
            <a:solidFill>
              <a:srgbClr val="02809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200400" y="3685032"/>
            <a:ext cx="2743200" cy="4572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200400" y="3685032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增強輸出 (目標語者保留)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274320" y="4251960"/>
            <a:ext cx="8595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gain_floor=0  |  attack=5ms  |  release=30ms  |  Energy VAD RMS floor=0.005  |  RTF=0.253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CAM++ 窗口限制分析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365760" y="694944"/>
            <a:ext cx="8412480" cy="2286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graphicFrame>
        <p:nvGraphicFramePr>
          <p:cNvPr id="4" name="Chart 0" descr=""/>
          <p:cNvGraphicFramePr/>
          <p:nvPr/>
        </p:nvGraphicFramePr>
        <p:xfrm>
          <a:off x="274320" y="777240"/>
          <a:ext cx="5303520" cy="37490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5760720" y="777240"/>
            <a:ext cx="3108960" cy="118872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5760720" y="777240"/>
            <a:ext cx="64008" cy="118872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5943600" y="850392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短窗口問題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5943600" y="1170432"/>
            <a:ext cx="2743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0.5s 窗口 sim=0.385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僅為全長(0.761)的50%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無法穩定區分說話者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5760720" y="2103120"/>
            <a:ext cx="3108960" cy="118872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5760720" y="2103120"/>
            <a:ext cx="64008" cy="118872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5943600" y="2176272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解決方案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5943600" y="2496312"/>
            <a:ext cx="2743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採用 1.0s 滑動窗口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sim=0.548 (差距從0.31→0.43)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延遲從93ms→14ms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5760720" y="3429000"/>
            <a:ext cx="3108960" cy="118872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5760720" y="3429000"/>
            <a:ext cx="64008" cy="118872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5943600" y="3502152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根本限制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5943600" y="3822192"/>
            <a:ext cx="2743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CAM++ 設計為語句級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無法替代逐幀偵測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Personal VAD 為長遠解方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測試場景設定（四場景）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365760" y="694944"/>
            <a:ext cx="8412480" cy="2286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74320" y="804672"/>
            <a:ext cx="2011680" cy="384048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804672"/>
            <a:ext cx="2011680" cy="566928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804672"/>
            <a:ext cx="5486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A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822960" y="804672"/>
            <a:ext cx="14630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乾淨交替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365760" y="1444752"/>
            <a:ext cx="1828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hsuan → 0911 → hsuan → 0911 → hsuan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各段 2.5s | SNR=clean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502920" y="2633472"/>
            <a:ext cx="1554480" cy="347472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02920" y="2633472"/>
            <a:ext cx="1554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Easy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11480" y="3090672"/>
            <a:ext cx="1737360" cy="155448"/>
          </a:xfrm>
          <a:prstGeom prst="rect">
            <a:avLst/>
          </a:prstGeom>
          <a:solidFill>
            <a:srgbClr val="028090">
              <a:alpha val="70000"/>
            </a:srgbClr>
          </a:solidFill>
          <a:ln w="12700">
            <a:solidFill>
              <a:srgbClr val="CBD5E1">
                <a:alpha val="2000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29768" y="3090672"/>
            <a:ext cx="1700784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0A2540"/>
                </a:solidFill>
              </a:rPr>
              <a:t>hsuan 2.5s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411480" y="3273552"/>
            <a:ext cx="1737360" cy="155448"/>
          </a:xfrm>
          <a:prstGeom prst="rect">
            <a:avLst/>
          </a:prstGeom>
          <a:solidFill>
            <a:srgbClr val="EF4444">
              <a:alpha val="70000"/>
            </a:srgbClr>
          </a:solidFill>
          <a:ln w="12700">
            <a:solidFill>
              <a:srgbClr val="CBD5E1">
                <a:alpha val="2000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29768" y="3273552"/>
            <a:ext cx="1700784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0A2540"/>
                </a:solidFill>
              </a:rPr>
              <a:t>interf 2.5s</a:t>
            </a:r>
            <a:endParaRPr lang="en-US" sz="800" dirty="0"/>
          </a:p>
        </p:txBody>
      </p:sp>
      <p:sp>
        <p:nvSpPr>
          <p:cNvPr id="15" name="Shape 13"/>
          <p:cNvSpPr/>
          <p:nvPr/>
        </p:nvSpPr>
        <p:spPr>
          <a:xfrm>
            <a:off x="411480" y="3456432"/>
            <a:ext cx="1737360" cy="155448"/>
          </a:xfrm>
          <a:prstGeom prst="rect">
            <a:avLst/>
          </a:prstGeom>
          <a:solidFill>
            <a:srgbClr val="028090">
              <a:alpha val="70000"/>
            </a:srgbClr>
          </a:solidFill>
          <a:ln w="12700">
            <a:solidFill>
              <a:srgbClr val="CBD5E1">
                <a:alpha val="2000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29768" y="3456432"/>
            <a:ext cx="1700784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0A2540"/>
                </a:solidFill>
              </a:rPr>
              <a:t>hsuan 2.5s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411480" y="3639312"/>
            <a:ext cx="1737360" cy="155448"/>
          </a:xfrm>
          <a:prstGeom prst="rect">
            <a:avLst/>
          </a:prstGeom>
          <a:solidFill>
            <a:srgbClr val="EF4444">
              <a:alpha val="70000"/>
            </a:srgbClr>
          </a:solidFill>
          <a:ln w="12700">
            <a:solidFill>
              <a:srgbClr val="CBD5E1">
                <a:alpha val="2000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29768" y="3639312"/>
            <a:ext cx="1700784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0A2540"/>
                </a:solidFill>
              </a:rPr>
              <a:t>interf 2.5s</a:t>
            </a:r>
            <a:endParaRPr lang="en-US" sz="800" dirty="0"/>
          </a:p>
        </p:txBody>
      </p:sp>
      <p:sp>
        <p:nvSpPr>
          <p:cNvPr id="19" name="Shape 17"/>
          <p:cNvSpPr/>
          <p:nvPr/>
        </p:nvSpPr>
        <p:spPr>
          <a:xfrm>
            <a:off x="411480" y="3822192"/>
            <a:ext cx="1737360" cy="155448"/>
          </a:xfrm>
          <a:prstGeom prst="rect">
            <a:avLst/>
          </a:prstGeom>
          <a:solidFill>
            <a:srgbClr val="028090">
              <a:alpha val="70000"/>
            </a:srgbClr>
          </a:solidFill>
          <a:ln w="12700">
            <a:solidFill>
              <a:srgbClr val="CBD5E1">
                <a:alpha val="2000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29768" y="3822192"/>
            <a:ext cx="1700784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0A2540"/>
                </a:solidFill>
              </a:rPr>
              <a:t>hsuan 2.5s</a:t>
            </a:r>
            <a:endParaRPr lang="en-US" sz="800" dirty="0"/>
          </a:p>
        </p:txBody>
      </p:sp>
      <p:sp>
        <p:nvSpPr>
          <p:cNvPr id="21" name="Shape 19"/>
          <p:cNvSpPr/>
          <p:nvPr/>
        </p:nvSpPr>
        <p:spPr>
          <a:xfrm>
            <a:off x="2468880" y="804672"/>
            <a:ext cx="2011680" cy="384048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2468880" y="804672"/>
            <a:ext cx="2011680" cy="56692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468880" y="804672"/>
            <a:ext cx="5486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B</a:t>
            </a:r>
            <a:endParaRPr lang="en-US" sz="2200" dirty="0"/>
          </a:p>
        </p:txBody>
      </p:sp>
      <p:sp>
        <p:nvSpPr>
          <p:cNvPr id="24" name="Text 22"/>
          <p:cNvSpPr/>
          <p:nvPr/>
        </p:nvSpPr>
        <p:spPr>
          <a:xfrm>
            <a:off x="3017520" y="804672"/>
            <a:ext cx="14630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重疊混合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2560320" y="1444752"/>
            <a:ext cx="1828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hsuan alone → 0dB 重疊 → hsuan alone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真實重疊 0dB 測試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2697480" y="2633472"/>
            <a:ext cx="1554480" cy="34747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697480" y="2633472"/>
            <a:ext cx="1554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Medium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2606040" y="3090672"/>
            <a:ext cx="1737360" cy="155448"/>
          </a:xfrm>
          <a:prstGeom prst="rect">
            <a:avLst/>
          </a:prstGeom>
          <a:solidFill>
            <a:srgbClr val="028090">
              <a:alpha val="70000"/>
            </a:srgbClr>
          </a:solidFill>
          <a:ln w="12700">
            <a:solidFill>
              <a:srgbClr val="CBD5E1">
                <a:alpha val="20000"/>
              </a:srgbClr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2624328" y="3090672"/>
            <a:ext cx="1700784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0A2540"/>
                </a:solidFill>
              </a:rPr>
              <a:t>hsuan 2.5s</a:t>
            </a:r>
            <a:endParaRPr lang="en-US" sz="800" dirty="0"/>
          </a:p>
        </p:txBody>
      </p:sp>
      <p:sp>
        <p:nvSpPr>
          <p:cNvPr id="30" name="Shape 28"/>
          <p:cNvSpPr/>
          <p:nvPr/>
        </p:nvSpPr>
        <p:spPr>
          <a:xfrm>
            <a:off x="2606040" y="3273552"/>
            <a:ext cx="1737360" cy="155448"/>
          </a:xfrm>
          <a:prstGeom prst="rect">
            <a:avLst/>
          </a:prstGeom>
          <a:solidFill>
            <a:srgbClr val="028090">
              <a:alpha val="70000"/>
            </a:srgbClr>
          </a:solidFill>
          <a:ln w="12700">
            <a:solidFill>
              <a:srgbClr val="CBD5E1">
                <a:alpha val="20000"/>
              </a:srgbClr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2624328" y="3273552"/>
            <a:ext cx="1700784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0A2540"/>
                </a:solidFill>
              </a:rPr>
              <a:t>hsuan+interf 3s</a:t>
            </a:r>
            <a:endParaRPr lang="en-US" sz="800" dirty="0"/>
          </a:p>
        </p:txBody>
      </p:sp>
      <p:sp>
        <p:nvSpPr>
          <p:cNvPr id="32" name="Shape 30"/>
          <p:cNvSpPr/>
          <p:nvPr/>
        </p:nvSpPr>
        <p:spPr>
          <a:xfrm>
            <a:off x="2606040" y="3456432"/>
            <a:ext cx="1737360" cy="155448"/>
          </a:xfrm>
          <a:prstGeom prst="rect">
            <a:avLst/>
          </a:prstGeom>
          <a:solidFill>
            <a:srgbClr val="028090">
              <a:alpha val="70000"/>
            </a:srgbClr>
          </a:solidFill>
          <a:ln w="12700">
            <a:solidFill>
              <a:srgbClr val="CBD5E1">
                <a:alpha val="20000"/>
              </a:srgbClr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2624328" y="3456432"/>
            <a:ext cx="1700784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0A2540"/>
                </a:solidFill>
              </a:rPr>
              <a:t>hsuan 2.5s</a:t>
            </a:r>
            <a:endParaRPr lang="en-US" sz="800" dirty="0"/>
          </a:p>
        </p:txBody>
      </p:sp>
      <p:sp>
        <p:nvSpPr>
          <p:cNvPr id="34" name="Shape 32"/>
          <p:cNvSpPr/>
          <p:nvPr/>
        </p:nvSpPr>
        <p:spPr>
          <a:xfrm>
            <a:off x="4663440" y="804672"/>
            <a:ext cx="2011680" cy="384048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4663440" y="804672"/>
            <a:ext cx="2011680" cy="566928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663440" y="804672"/>
            <a:ext cx="5486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C</a:t>
            </a:r>
            <a:endParaRPr lang="en-US" sz="2200" dirty="0"/>
          </a:p>
        </p:txBody>
      </p:sp>
      <p:sp>
        <p:nvSpPr>
          <p:cNvPr id="37" name="Text 35"/>
          <p:cNvSpPr/>
          <p:nvPr/>
        </p:nvSpPr>
        <p:spPr>
          <a:xfrm>
            <a:off x="5212080" y="804672"/>
            <a:ext cx="14630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白噪音</a:t>
            </a:r>
            <a:endParaRPr lang="en-US" sz="1300" dirty="0"/>
          </a:p>
        </p:txBody>
      </p:sp>
      <p:sp>
        <p:nvSpPr>
          <p:cNvPr id="38" name="Text 36"/>
          <p:cNvSpPr/>
          <p:nvPr/>
        </p:nvSpPr>
        <p:spPr>
          <a:xfrm>
            <a:off x="4754880" y="1444752"/>
            <a:ext cx="1828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場景A + 白噪音 SNR=10dB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測試抗噪能力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4892040" y="2633472"/>
            <a:ext cx="1554480" cy="347472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892040" y="2633472"/>
            <a:ext cx="1554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Hard</a:t>
            </a:r>
            <a:endParaRPr lang="en-US" sz="1200" dirty="0"/>
          </a:p>
        </p:txBody>
      </p:sp>
      <p:sp>
        <p:nvSpPr>
          <p:cNvPr id="41" name="Shape 39"/>
          <p:cNvSpPr/>
          <p:nvPr/>
        </p:nvSpPr>
        <p:spPr>
          <a:xfrm>
            <a:off x="4800600" y="3090672"/>
            <a:ext cx="1737360" cy="155448"/>
          </a:xfrm>
          <a:prstGeom prst="rect">
            <a:avLst/>
          </a:prstGeom>
          <a:solidFill>
            <a:srgbClr val="028090">
              <a:alpha val="70000"/>
            </a:srgbClr>
          </a:solidFill>
          <a:ln w="12700">
            <a:solidFill>
              <a:srgbClr val="CBD5E1">
                <a:alpha val="20000"/>
              </a:srgbClr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818888" y="3090672"/>
            <a:ext cx="1700784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0A2540"/>
                </a:solidFill>
              </a:rPr>
              <a:t>hsuan 2.5s</a:t>
            </a:r>
            <a:endParaRPr lang="en-US" sz="800" dirty="0"/>
          </a:p>
        </p:txBody>
      </p:sp>
      <p:sp>
        <p:nvSpPr>
          <p:cNvPr id="43" name="Shape 41"/>
          <p:cNvSpPr/>
          <p:nvPr/>
        </p:nvSpPr>
        <p:spPr>
          <a:xfrm>
            <a:off x="4800600" y="3273552"/>
            <a:ext cx="1737360" cy="155448"/>
          </a:xfrm>
          <a:prstGeom prst="rect">
            <a:avLst/>
          </a:prstGeom>
          <a:solidFill>
            <a:srgbClr val="EF4444">
              <a:alpha val="70000"/>
            </a:srgbClr>
          </a:solidFill>
          <a:ln w="12700">
            <a:solidFill>
              <a:srgbClr val="CBD5E1">
                <a:alpha val="20000"/>
              </a:srgbClr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4818888" y="3273552"/>
            <a:ext cx="1700784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0A2540"/>
                </a:solidFill>
              </a:rPr>
              <a:t>interf 2.5s</a:t>
            </a:r>
            <a:endParaRPr lang="en-US" sz="800" dirty="0"/>
          </a:p>
        </p:txBody>
      </p:sp>
      <p:sp>
        <p:nvSpPr>
          <p:cNvPr id="45" name="Shape 43"/>
          <p:cNvSpPr/>
          <p:nvPr/>
        </p:nvSpPr>
        <p:spPr>
          <a:xfrm>
            <a:off x="4800600" y="3456432"/>
            <a:ext cx="1737360" cy="155448"/>
          </a:xfrm>
          <a:prstGeom prst="rect">
            <a:avLst/>
          </a:prstGeom>
          <a:solidFill>
            <a:srgbClr val="028090">
              <a:alpha val="70000"/>
            </a:srgbClr>
          </a:solidFill>
          <a:ln w="12700">
            <a:solidFill>
              <a:srgbClr val="CBD5E1">
                <a:alpha val="20000"/>
              </a:srgbClr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4818888" y="3456432"/>
            <a:ext cx="1700784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0A2540"/>
                </a:solidFill>
              </a:rPr>
              <a:t>hsuan 2.5s</a:t>
            </a:r>
            <a:endParaRPr lang="en-US" sz="800" dirty="0"/>
          </a:p>
        </p:txBody>
      </p:sp>
      <p:sp>
        <p:nvSpPr>
          <p:cNvPr id="47" name="Shape 45"/>
          <p:cNvSpPr/>
          <p:nvPr/>
        </p:nvSpPr>
        <p:spPr>
          <a:xfrm>
            <a:off x="4800600" y="3639312"/>
            <a:ext cx="1737360" cy="155448"/>
          </a:xfrm>
          <a:prstGeom prst="rect">
            <a:avLst/>
          </a:prstGeom>
          <a:solidFill>
            <a:srgbClr val="EF4444">
              <a:alpha val="70000"/>
            </a:srgbClr>
          </a:solidFill>
          <a:ln w="12700">
            <a:solidFill>
              <a:srgbClr val="CBD5E1">
                <a:alpha val="20000"/>
              </a:srgbClr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4818888" y="3639312"/>
            <a:ext cx="1700784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0A2540"/>
                </a:solidFill>
              </a:rPr>
              <a:t>interf 2.5s</a:t>
            </a:r>
            <a:endParaRPr lang="en-US" sz="800" dirty="0"/>
          </a:p>
        </p:txBody>
      </p:sp>
      <p:sp>
        <p:nvSpPr>
          <p:cNvPr id="49" name="Shape 47"/>
          <p:cNvSpPr/>
          <p:nvPr/>
        </p:nvSpPr>
        <p:spPr>
          <a:xfrm>
            <a:off x="4800600" y="3822192"/>
            <a:ext cx="1737360" cy="155448"/>
          </a:xfrm>
          <a:prstGeom prst="rect">
            <a:avLst/>
          </a:prstGeom>
          <a:solidFill>
            <a:srgbClr val="028090">
              <a:alpha val="70000"/>
            </a:srgbClr>
          </a:solidFill>
          <a:ln w="12700">
            <a:solidFill>
              <a:srgbClr val="CBD5E1">
                <a:alpha val="20000"/>
              </a:srgbClr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4818888" y="3822192"/>
            <a:ext cx="1700784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0A2540"/>
                </a:solidFill>
              </a:rPr>
              <a:t>hsuan 2.5s</a:t>
            </a:r>
            <a:endParaRPr lang="en-US" sz="800" dirty="0"/>
          </a:p>
        </p:txBody>
      </p:sp>
      <p:sp>
        <p:nvSpPr>
          <p:cNvPr id="51" name="Shape 49"/>
          <p:cNvSpPr/>
          <p:nvPr/>
        </p:nvSpPr>
        <p:spPr>
          <a:xfrm>
            <a:off x="6858000" y="804672"/>
            <a:ext cx="2011680" cy="384048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52" name="Shape 50"/>
          <p:cNvSpPr/>
          <p:nvPr/>
        </p:nvSpPr>
        <p:spPr>
          <a:xfrm>
            <a:off x="6858000" y="804672"/>
            <a:ext cx="2011680" cy="566928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6858000" y="804672"/>
            <a:ext cx="5486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D</a:t>
            </a:r>
            <a:endParaRPr lang="en-US" sz="2200" dirty="0"/>
          </a:p>
        </p:txBody>
      </p:sp>
      <p:sp>
        <p:nvSpPr>
          <p:cNvPr id="54" name="Text 52"/>
          <p:cNvSpPr/>
          <p:nvPr/>
        </p:nvSpPr>
        <p:spPr>
          <a:xfrm>
            <a:off x="7406640" y="804672"/>
            <a:ext cx="14630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FEMH干擾</a:t>
            </a:r>
            <a:endParaRPr lang="en-US" sz="1300" dirty="0"/>
          </a:p>
        </p:txBody>
      </p:sp>
      <p:sp>
        <p:nvSpPr>
          <p:cNvPr id="55" name="Text 53"/>
          <p:cNvSpPr/>
          <p:nvPr/>
        </p:nvSpPr>
        <p:spPr>
          <a:xfrm>
            <a:off x="6949440" y="1444752"/>
            <a:ext cx="1828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hsuan → FEMH → hsuan → FEMH → hsuan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異質語者干擾</a:t>
            </a:r>
            <a:endParaRPr lang="en-US" sz="1000" dirty="0"/>
          </a:p>
        </p:txBody>
      </p:sp>
      <p:sp>
        <p:nvSpPr>
          <p:cNvPr id="56" name="Shape 54"/>
          <p:cNvSpPr/>
          <p:nvPr/>
        </p:nvSpPr>
        <p:spPr>
          <a:xfrm>
            <a:off x="7086600" y="2633472"/>
            <a:ext cx="1554480" cy="347472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7086600" y="2633472"/>
            <a:ext cx="1554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Easy</a:t>
            </a:r>
            <a:endParaRPr lang="en-US" sz="1200" dirty="0"/>
          </a:p>
        </p:txBody>
      </p:sp>
      <p:sp>
        <p:nvSpPr>
          <p:cNvPr id="58" name="Shape 56"/>
          <p:cNvSpPr/>
          <p:nvPr/>
        </p:nvSpPr>
        <p:spPr>
          <a:xfrm>
            <a:off x="6995160" y="3090672"/>
            <a:ext cx="1737360" cy="155448"/>
          </a:xfrm>
          <a:prstGeom prst="rect">
            <a:avLst/>
          </a:prstGeom>
          <a:solidFill>
            <a:srgbClr val="028090">
              <a:alpha val="70000"/>
            </a:srgbClr>
          </a:solidFill>
          <a:ln w="12700">
            <a:solidFill>
              <a:srgbClr val="CBD5E1">
                <a:alpha val="20000"/>
              </a:srgbClr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7013448" y="3090672"/>
            <a:ext cx="1700784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0A2540"/>
                </a:solidFill>
              </a:rPr>
              <a:t>hsuan 2.5s</a:t>
            </a:r>
            <a:endParaRPr lang="en-US" sz="800" dirty="0"/>
          </a:p>
        </p:txBody>
      </p:sp>
      <p:sp>
        <p:nvSpPr>
          <p:cNvPr id="60" name="Shape 58"/>
          <p:cNvSpPr/>
          <p:nvPr/>
        </p:nvSpPr>
        <p:spPr>
          <a:xfrm>
            <a:off x="6995160" y="3273552"/>
            <a:ext cx="1737360" cy="155448"/>
          </a:xfrm>
          <a:prstGeom prst="rect">
            <a:avLst/>
          </a:prstGeom>
          <a:solidFill>
            <a:srgbClr val="EF4444">
              <a:alpha val="70000"/>
            </a:srgbClr>
          </a:solidFill>
          <a:ln w="12700">
            <a:solidFill>
              <a:srgbClr val="CBD5E1">
                <a:alpha val="20000"/>
              </a:srgbClr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7013448" y="3273552"/>
            <a:ext cx="1700784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0A2540"/>
                </a:solidFill>
              </a:rPr>
              <a:t>interf 2.5s</a:t>
            </a:r>
            <a:endParaRPr lang="en-US" sz="800" dirty="0"/>
          </a:p>
        </p:txBody>
      </p:sp>
      <p:sp>
        <p:nvSpPr>
          <p:cNvPr id="62" name="Shape 60"/>
          <p:cNvSpPr/>
          <p:nvPr/>
        </p:nvSpPr>
        <p:spPr>
          <a:xfrm>
            <a:off x="6995160" y="3456432"/>
            <a:ext cx="1737360" cy="155448"/>
          </a:xfrm>
          <a:prstGeom prst="rect">
            <a:avLst/>
          </a:prstGeom>
          <a:solidFill>
            <a:srgbClr val="028090">
              <a:alpha val="70000"/>
            </a:srgbClr>
          </a:solidFill>
          <a:ln w="12700">
            <a:solidFill>
              <a:srgbClr val="CBD5E1">
                <a:alpha val="20000"/>
              </a:srgbClr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7013448" y="3456432"/>
            <a:ext cx="1700784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0A2540"/>
                </a:solidFill>
              </a:rPr>
              <a:t>hsuan 2.5s</a:t>
            </a:r>
            <a:endParaRPr lang="en-US" sz="800" dirty="0"/>
          </a:p>
        </p:txBody>
      </p:sp>
      <p:sp>
        <p:nvSpPr>
          <p:cNvPr id="64" name="Shape 62"/>
          <p:cNvSpPr/>
          <p:nvPr/>
        </p:nvSpPr>
        <p:spPr>
          <a:xfrm>
            <a:off x="6995160" y="3639312"/>
            <a:ext cx="1737360" cy="155448"/>
          </a:xfrm>
          <a:prstGeom prst="rect">
            <a:avLst/>
          </a:prstGeom>
          <a:solidFill>
            <a:srgbClr val="EF4444">
              <a:alpha val="70000"/>
            </a:srgbClr>
          </a:solidFill>
          <a:ln w="12700">
            <a:solidFill>
              <a:srgbClr val="CBD5E1">
                <a:alpha val="20000"/>
              </a:srgbClr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7013448" y="3639312"/>
            <a:ext cx="1700784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0A2540"/>
                </a:solidFill>
              </a:rPr>
              <a:t>interf 2.5s</a:t>
            </a:r>
            <a:endParaRPr lang="en-US" sz="800" dirty="0"/>
          </a:p>
        </p:txBody>
      </p:sp>
      <p:sp>
        <p:nvSpPr>
          <p:cNvPr id="66" name="Shape 64"/>
          <p:cNvSpPr/>
          <p:nvPr/>
        </p:nvSpPr>
        <p:spPr>
          <a:xfrm>
            <a:off x="6995160" y="3822192"/>
            <a:ext cx="1737360" cy="155448"/>
          </a:xfrm>
          <a:prstGeom prst="rect">
            <a:avLst/>
          </a:prstGeom>
          <a:solidFill>
            <a:srgbClr val="028090">
              <a:alpha val="70000"/>
            </a:srgbClr>
          </a:solidFill>
          <a:ln w="12700">
            <a:solidFill>
              <a:srgbClr val="CBD5E1">
                <a:alpha val="20000"/>
              </a:srgbClr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7013448" y="3822192"/>
            <a:ext cx="1700784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0A2540"/>
                </a:solidFill>
              </a:rPr>
              <a:t>hsuan 2.5s</a:t>
            </a:r>
            <a:endParaRPr lang="en-US" sz="800" dirty="0"/>
          </a:p>
        </p:txBody>
      </p:sp>
      <p:sp>
        <p:nvSpPr>
          <p:cNvPr id="68" name="Text 66"/>
          <p:cNvSpPr/>
          <p:nvPr/>
        </p:nvSpPr>
        <p:spPr>
          <a:xfrm>
            <a:off x="274320" y="4773168"/>
            <a:ext cx="8595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Enrollment: b6dbc0fc_hsuan_7.wav (SNR=44dB, 19.9s)  |  Threshold=0.25  |  Window=1.0s  |  CAM++ 27MB  |  GTCRN 523KB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說話者相依 (SD) 模型架構全面比較 — 噪音增強訓練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365760" y="694944"/>
            <a:ext cx="8412480" cy="2286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pic>
        <p:nvPicPr>
          <p:cNvPr id="4" name="Image 0" descr="C:/Users/featuer/Desktop/pvad-se-pipeline/presentation/charts/f1_comparison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274320" y="777240"/>
            <a:ext cx="5029200" cy="3017520"/>
          </a:xfrm>
          <a:prstGeom prst="rect">
            <a:avLst/>
          </a:prstGeom>
        </p:spPr>
      </p:pic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40680" y="777240"/>
          <a:ext cx="3429000" cy="4023360"/>
        </p:xfrm>
        <a:graphic>
          <a:graphicData uri="http://schemas.openxmlformats.org/drawingml/2006/table">
            <a:tbl>
              <a:tblPr/>
              <a:tblGrid>
                <a:gridCol w="1005840"/>
                <a:gridCol w="822960"/>
                <a:gridCol w="640080"/>
                <a:gridCol w="640080"/>
                <a:gridCol w="502920"/>
              </a:tblGrid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模型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54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參數量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54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精確率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54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召回率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54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540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MLP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53,954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97.7%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55.3%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D4ED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0.706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BiGRU+Attn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695,042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97.7%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54.6%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D4ED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0.700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BiLSTM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574,978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97.9%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54.1%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D4ED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0.697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pVAD-SE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3C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6.9M+83K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76.8%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59.8%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02809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0.672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LinearSVM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N/A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90.0%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49.9%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0.642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RF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N/A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97.7%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47.3%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0.637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CNN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125,058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95.8%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45.7%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F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0.619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 2"/>
          <p:cNvSpPr/>
          <p:nvPr/>
        </p:nvSpPr>
        <p:spPr>
          <a:xfrm>
            <a:off x="274320" y="4800600"/>
            <a:ext cx="8595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訓練設定: hsuan(+) | 0911+FEMH(-) | 噪音增強 SNR=5/10/15/20dB | 45維 SDMFCC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噪音增強訓練的效果 — 場景C 白噪音 SNR 10dB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365760" y="694944"/>
            <a:ext cx="8412480" cy="2286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pic>
        <p:nvPicPr>
          <p:cNvPr id="4" name="Image 0" descr="C:/Users/featuer/Desktop/pvad-se-pipeline/presentation/charts/scenario_c_comparison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274320" y="777240"/>
            <a:ext cx="5029200" cy="32004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486400" y="804672"/>
            <a:ext cx="3383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增強前 vs 增強後 (場景C)</a:t>
            </a:r>
            <a:endParaRPr lang="en-US" sz="13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40680" y="1170432"/>
          <a:ext cx="3429000" cy="1828800"/>
        </p:xfrm>
        <a:graphic>
          <a:graphicData uri="http://schemas.openxmlformats.org/drawingml/2006/table">
            <a:tbl>
              <a:tblPr/>
              <a:tblGrid>
                <a:gridCol w="857250"/>
                <a:gridCol w="857250"/>
                <a:gridCol w="857250"/>
                <a:gridCol w="857250"/>
              </a:tblGrid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模型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54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增強前 F1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54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增強後 F1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54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提升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540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SVM/MLP (舊)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0.773/0.748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場景C完全失效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F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N/A(未增強)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MLP (新)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0.706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0B98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+噪音魯棒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BiGRU+Attn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0.700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0B98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+噪音魯棒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BiLSTM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0.697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0B98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+噪音魯棒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Shape 3"/>
          <p:cNvSpPr/>
          <p:nvPr/>
        </p:nvSpPr>
        <p:spPr>
          <a:xfrm>
            <a:off x="5440680" y="3090672"/>
            <a:ext cx="3429000" cy="1371600"/>
          </a:xfrm>
          <a:prstGeom prst="rect">
            <a:avLst/>
          </a:prstGeom>
          <a:solidFill>
            <a:srgbClr val="F0FFF4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8" name="Text 4"/>
          <p:cNvSpPr/>
          <p:nvPr/>
        </p:nvSpPr>
        <p:spPr>
          <a:xfrm>
            <a:off x="5577840" y="3136392"/>
            <a:ext cx="315468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關鍵發現
</a:t>
            </a:r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噪音增強後，干擾段誤判率: 100% → 1.3~5.1%
</a:t>
            </a:r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目標召回率因高門檻略有下降 (55%)
</a:t>
            </a:r>
            <a:pPr indent="0" marL="0">
              <a:buNone/>
            </a:pPr>
            <a:r>
              <a:rPr lang="en-US" sz="100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pVAD-SE 場景C 仍漏通 83.3%（CAM++特性）</a:t>
            </a:r>
            <a:endParaRPr lang="en-US" sz="1000" dirty="0"/>
          </a:p>
        </p:txBody>
      </p:sp>
      <p:sp>
        <p:nvSpPr>
          <p:cNvPr id="9" name="Text 5"/>
          <p:cNvSpPr/>
          <p:nvPr/>
        </p:nvSpPr>
        <p:spPr>
          <a:xfrm>
            <a:off x="274320" y="4800600"/>
            <a:ext cx="8595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場景C 各語段比較: 未增強 SD 全段輸出100% | 增強後 SD interferer 降至 1-5% | pVAD-SE interferer 仍 38~83%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場景C 詳細分析 — 白噪音 SNR 10dB 各語段目標比率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365760" y="694944"/>
            <a:ext cx="8412480" cy="2286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777240"/>
          <a:ext cx="8595360" cy="3017520"/>
        </p:xfrm>
        <a:graphic>
          <a:graphicData uri="http://schemas.openxmlformats.org/drawingml/2006/table">
            <a:tbl>
              <a:tblPr/>
              <a:tblGrid>
                <a:gridCol w="1463040"/>
                <a:gridCol w="731520"/>
                <a:gridCol w="1280160"/>
                <a:gridCol w="1280160"/>
                <a:gridCol w="1280160"/>
                <a:gridCol w="1280160"/>
                <a:gridCol w="1280160"/>
              </a:tblGrid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語段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54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真實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54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MLP(增強)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54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BiGRU(增強)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54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BiLSTM(增強)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54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LinearSVM(增強)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54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pVAD-SE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540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hsuan 0-2.5s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02809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 (目標)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065F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98.7%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065F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98.7%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065F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98.7%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065F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94.9%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065F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80.3%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interf 2.5-5s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F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 (干擾)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065F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5.1%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065F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2.6%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065F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2.6%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99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34.6%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99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83.3%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hsuan 5-7.5s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02809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 (目標)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92400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37.2%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92400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35.9%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92400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37.2%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92400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26.9%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065F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75.6%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interf 7.5-10s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F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 (干擾)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065F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065F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065F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065F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5.1%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99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38.5%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hsuan 10-12.5s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02809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 (目標)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99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7.7%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99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2.6%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99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7.7%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92400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33.3%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065F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100.0%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274320" y="3913632"/>
            <a:ext cx="4114800" cy="1005840"/>
          </a:xfrm>
          <a:prstGeom prst="rect">
            <a:avLst/>
          </a:prstGeom>
          <a:solidFill>
            <a:srgbClr val="F0FFF4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411480" y="3959352"/>
            <a:ext cx="38404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SD 增強模型優勢
</a:t>
            </a:r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干擾段誤判率大幅降低至 1-5%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精確率提升至 97-98%（高純度）</a:t>
            </a:r>
            <a:endParaRPr lang="en-US" sz="1100" dirty="0"/>
          </a:p>
        </p:txBody>
      </p:sp>
      <p:sp>
        <p:nvSpPr>
          <p:cNvPr id="7" name="Shape 4"/>
          <p:cNvSpPr/>
          <p:nvPr/>
        </p:nvSpPr>
        <p:spPr>
          <a:xfrm>
            <a:off x="4754880" y="3913632"/>
            <a:ext cx="4114800" cy="1005840"/>
          </a:xfrm>
          <a:prstGeom prst="rect">
            <a:avLst/>
          </a:prstGeom>
          <a:solidFill>
            <a:srgbClr val="FFF8F8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4892040" y="3959352"/>
            <a:ext cx="38404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pVAD-SE 局限性
</a:t>
            </a:r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CAM++ 在噪音下相似度崩潰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interf 2.5-5s 誤判高達 83.3%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5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LSTM 模型在不同模式的比較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365760" y="694944"/>
            <a:ext cx="8412480" cy="2286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28600" y="777240"/>
            <a:ext cx="2084832" cy="50292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28600" y="777240"/>
            <a:ext cx="20848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LSTM_SD (未增強)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228600" y="1033272"/>
            <a:ext cx="208483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說話者相依 / 舊版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28600" y="1280160"/>
            <a:ext cx="2084832" cy="333756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301752" y="132588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參數量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234440" y="1325880"/>
            <a:ext cx="1005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574,978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301752" y="1764792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模型大小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234440" y="1764792"/>
            <a:ext cx="1005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~2.2MB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301752" y="2203704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推論延遲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1234440" y="2203704"/>
            <a:ext cx="1005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~1ms/幀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301752" y="2642616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輸入特徵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1234440" y="2642616"/>
            <a:ext cx="1005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SDMFCC 45維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301752" y="3081528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精確率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234440" y="3081528"/>
            <a:ext cx="1005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76.3%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301752" y="352044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召回率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1234440" y="3520440"/>
            <a:ext cx="1005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72.6%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301752" y="3959352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 Score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1234440" y="3959352"/>
            <a:ext cx="1005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0.745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274320" y="4480560"/>
            <a:ext cx="1993392" cy="164592"/>
          </a:xfrm>
          <a:prstGeom prst="rect">
            <a:avLst/>
          </a:prstGeom>
          <a:solidFill>
            <a:srgbClr val="1C7293">
              <a:alpha val="20000"/>
            </a:srgbClr>
          </a:solidFill>
          <a:ln w="12700">
            <a:solidFill>
              <a:srgbClr val="CBD5E1">
                <a:alpha val="2000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01752" y="4480560"/>
            <a:ext cx="193852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hsuan 單一語者訓練</a:t>
            </a:r>
            <a:endParaRPr lang="en-US" sz="800" dirty="0"/>
          </a:p>
          <a:p>
            <a:pPr algn="l" indent="0" marL="0">
              <a:buNone/>
            </a:pPr>
            <a:r>
              <a:rPr lang="en-US" sz="8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無負樣本 → 場景C失效</a:t>
            </a:r>
            <a:endParaRPr lang="en-US" sz="800" dirty="0"/>
          </a:p>
        </p:txBody>
      </p:sp>
      <p:sp>
        <p:nvSpPr>
          <p:cNvPr id="24" name="Shape 22"/>
          <p:cNvSpPr/>
          <p:nvPr/>
        </p:nvSpPr>
        <p:spPr>
          <a:xfrm>
            <a:off x="2441448" y="777240"/>
            <a:ext cx="2084832" cy="50292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441448" y="777240"/>
            <a:ext cx="20848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BiLSTM_SD (增強)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2441448" y="1033272"/>
            <a:ext cx="208483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說話者相依 / 噪音增強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2441448" y="1280160"/>
            <a:ext cx="2084832" cy="333756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2514600" y="132588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參數量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3447288" y="1325880"/>
            <a:ext cx="1005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574,978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2514600" y="1764792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模型大小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3447288" y="1764792"/>
            <a:ext cx="1005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~2.2MB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2514600" y="2203704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推論延遲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3447288" y="2203704"/>
            <a:ext cx="1005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~1ms/幀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2514600" y="2642616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輸入特徵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3447288" y="2642616"/>
            <a:ext cx="1005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SDMFCC 45維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2514600" y="3081528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精確率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3447288" y="3081528"/>
            <a:ext cx="1005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97.9%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2514600" y="352044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召回率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3447288" y="3520440"/>
            <a:ext cx="1005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54.1%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2514600" y="3959352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 Score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3447288" y="3959352"/>
            <a:ext cx="1005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0.697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2487168" y="4480560"/>
            <a:ext cx="1993392" cy="164592"/>
          </a:xfrm>
          <a:prstGeom prst="rect">
            <a:avLst/>
          </a:prstGeom>
          <a:solidFill>
            <a:srgbClr val="028090">
              <a:alpha val="20000"/>
            </a:srgbClr>
          </a:solidFill>
          <a:ln w="12700">
            <a:solidFill>
              <a:srgbClr val="CBD5E1">
                <a:alpha val="20000"/>
              </a:srgbClr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2514600" y="4480560"/>
            <a:ext cx="193852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加入0911+FEMH負樣本</a:t>
            </a:r>
            <a:endParaRPr lang="en-US" sz="800" dirty="0"/>
          </a:p>
          <a:p>
            <a:pPr algn="l" indent="0" marL="0">
              <a:buNone/>
            </a:pPr>
            <a:r>
              <a:rPr lang="en-US" sz="8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+SNR 5-20dB增強</a:t>
            </a:r>
            <a:endParaRPr lang="en-US" sz="800" dirty="0"/>
          </a:p>
        </p:txBody>
      </p:sp>
      <p:sp>
        <p:nvSpPr>
          <p:cNvPr id="44" name="Shape 42"/>
          <p:cNvSpPr/>
          <p:nvPr/>
        </p:nvSpPr>
        <p:spPr>
          <a:xfrm>
            <a:off x="4654296" y="777240"/>
            <a:ext cx="2084832" cy="50292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4654296" y="777240"/>
            <a:ext cx="20848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 VAD (LSTM)</a:t>
            </a:r>
            <a:endParaRPr lang="en-US" sz="1000" dirty="0"/>
          </a:p>
        </p:txBody>
      </p:sp>
      <p:sp>
        <p:nvSpPr>
          <p:cNvPr id="46" name="Text 44"/>
          <p:cNvSpPr/>
          <p:nvPr/>
        </p:nvSpPr>
        <p:spPr>
          <a:xfrm>
            <a:off x="4654296" y="1033272"/>
            <a:ext cx="208483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pVAD 模式 / 逐幀</a:t>
            </a:r>
            <a:endParaRPr lang="en-US" sz="900" dirty="0"/>
          </a:p>
        </p:txBody>
      </p:sp>
      <p:sp>
        <p:nvSpPr>
          <p:cNvPr id="47" name="Shape 45"/>
          <p:cNvSpPr/>
          <p:nvPr/>
        </p:nvSpPr>
        <p:spPr>
          <a:xfrm>
            <a:off x="4654296" y="1280160"/>
            <a:ext cx="2084832" cy="333756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48" name="Text 46"/>
          <p:cNvSpPr/>
          <p:nvPr/>
        </p:nvSpPr>
        <p:spPr>
          <a:xfrm>
            <a:off x="4727448" y="132588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參數量</a:t>
            </a:r>
            <a:endParaRPr lang="en-US" sz="900" dirty="0"/>
          </a:p>
        </p:txBody>
      </p:sp>
      <p:sp>
        <p:nvSpPr>
          <p:cNvPr id="49" name="Text 47"/>
          <p:cNvSpPr/>
          <p:nvPr/>
        </p:nvSpPr>
        <p:spPr>
          <a:xfrm>
            <a:off x="5660136" y="1325880"/>
            <a:ext cx="1005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124,000</a:t>
            </a:r>
            <a:endParaRPr lang="en-US" sz="900" dirty="0"/>
          </a:p>
        </p:txBody>
      </p:sp>
      <p:sp>
        <p:nvSpPr>
          <p:cNvPr id="50" name="Text 48"/>
          <p:cNvSpPr/>
          <p:nvPr/>
        </p:nvSpPr>
        <p:spPr>
          <a:xfrm>
            <a:off x="4727448" y="1764792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模型大小</a:t>
            </a:r>
            <a:endParaRPr lang="en-US" sz="900" dirty="0"/>
          </a:p>
        </p:txBody>
      </p:sp>
      <p:sp>
        <p:nvSpPr>
          <p:cNvPr id="51" name="Text 49"/>
          <p:cNvSpPr/>
          <p:nvPr/>
        </p:nvSpPr>
        <p:spPr>
          <a:xfrm>
            <a:off x="5660136" y="1764792"/>
            <a:ext cx="1005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489KB</a:t>
            </a:r>
            <a:endParaRPr lang="en-US" sz="900" dirty="0"/>
          </a:p>
        </p:txBody>
      </p:sp>
      <p:sp>
        <p:nvSpPr>
          <p:cNvPr id="52" name="Text 50"/>
          <p:cNvSpPr/>
          <p:nvPr/>
        </p:nvSpPr>
        <p:spPr>
          <a:xfrm>
            <a:off x="4727448" y="2203704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推論延遲</a:t>
            </a:r>
            <a:endParaRPr lang="en-US" sz="900" dirty="0"/>
          </a:p>
        </p:txBody>
      </p:sp>
      <p:sp>
        <p:nvSpPr>
          <p:cNvPr id="53" name="Text 51"/>
          <p:cNvSpPr/>
          <p:nvPr/>
        </p:nvSpPr>
        <p:spPr>
          <a:xfrm>
            <a:off x="5660136" y="2203704"/>
            <a:ext cx="1005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10ms/幀</a:t>
            </a:r>
            <a:endParaRPr lang="en-US" sz="900" dirty="0"/>
          </a:p>
        </p:txBody>
      </p:sp>
      <p:sp>
        <p:nvSpPr>
          <p:cNvPr id="54" name="Text 52"/>
          <p:cNvSpPr/>
          <p:nvPr/>
        </p:nvSpPr>
        <p:spPr>
          <a:xfrm>
            <a:off x="4727448" y="2642616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輸入特徵</a:t>
            </a:r>
            <a:endParaRPr lang="en-US" sz="900" dirty="0"/>
          </a:p>
        </p:txBody>
      </p:sp>
      <p:sp>
        <p:nvSpPr>
          <p:cNvPr id="55" name="Text 53"/>
          <p:cNvSpPr/>
          <p:nvPr/>
        </p:nvSpPr>
        <p:spPr>
          <a:xfrm>
            <a:off x="5660136" y="2642616"/>
            <a:ext cx="1005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Fbank 80維 + d-vector 192維</a:t>
            </a:r>
            <a:endParaRPr lang="en-US" sz="900" dirty="0"/>
          </a:p>
        </p:txBody>
      </p:sp>
      <p:sp>
        <p:nvSpPr>
          <p:cNvPr id="56" name="Text 54"/>
          <p:cNvSpPr/>
          <p:nvPr/>
        </p:nvSpPr>
        <p:spPr>
          <a:xfrm>
            <a:off x="4727448" y="3081528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精確率</a:t>
            </a:r>
            <a:endParaRPr lang="en-US" sz="900" dirty="0"/>
          </a:p>
        </p:txBody>
      </p:sp>
      <p:sp>
        <p:nvSpPr>
          <p:cNvPr id="57" name="Text 55"/>
          <p:cNvSpPr/>
          <p:nvPr/>
        </p:nvSpPr>
        <p:spPr>
          <a:xfrm>
            <a:off x="5660136" y="3081528"/>
            <a:ext cx="1005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900" dirty="0"/>
          </a:p>
        </p:txBody>
      </p:sp>
      <p:sp>
        <p:nvSpPr>
          <p:cNvPr id="58" name="Text 56"/>
          <p:cNvSpPr/>
          <p:nvPr/>
        </p:nvSpPr>
        <p:spPr>
          <a:xfrm>
            <a:off x="4727448" y="352044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召回率</a:t>
            </a:r>
            <a:endParaRPr lang="en-US" sz="900" dirty="0"/>
          </a:p>
        </p:txBody>
      </p:sp>
      <p:sp>
        <p:nvSpPr>
          <p:cNvPr id="59" name="Text 57"/>
          <p:cNvSpPr/>
          <p:nvPr/>
        </p:nvSpPr>
        <p:spPr>
          <a:xfrm>
            <a:off x="5660136" y="3520440"/>
            <a:ext cx="1005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900" dirty="0"/>
          </a:p>
        </p:txBody>
      </p:sp>
      <p:sp>
        <p:nvSpPr>
          <p:cNvPr id="60" name="Text 58"/>
          <p:cNvSpPr/>
          <p:nvPr/>
        </p:nvSpPr>
        <p:spPr>
          <a:xfrm>
            <a:off x="4727448" y="3959352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 Score</a:t>
            </a:r>
            <a:endParaRPr lang="en-US" sz="900" dirty="0"/>
          </a:p>
        </p:txBody>
      </p:sp>
      <p:sp>
        <p:nvSpPr>
          <p:cNvPr id="61" name="Text 59"/>
          <p:cNvSpPr/>
          <p:nvPr/>
        </p:nvSpPr>
        <p:spPr>
          <a:xfrm>
            <a:off x="5660136" y="3959352"/>
            <a:ext cx="1005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待訓練</a:t>
            </a:r>
            <a:endParaRPr lang="en-US" sz="1000" dirty="0"/>
          </a:p>
        </p:txBody>
      </p:sp>
      <p:sp>
        <p:nvSpPr>
          <p:cNvPr id="62" name="Shape 60"/>
          <p:cNvSpPr/>
          <p:nvPr/>
        </p:nvSpPr>
        <p:spPr>
          <a:xfrm>
            <a:off x="4700016" y="4480560"/>
            <a:ext cx="1993392" cy="164592"/>
          </a:xfrm>
          <a:prstGeom prst="rect">
            <a:avLst/>
          </a:prstGeom>
          <a:solidFill>
            <a:srgbClr val="F59E0B">
              <a:alpha val="20000"/>
            </a:srgbClr>
          </a:solidFill>
          <a:ln w="12700">
            <a:solidFill>
              <a:srgbClr val="CBD5E1">
                <a:alpha val="20000"/>
              </a:srgbClr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4727448" y="4480560"/>
            <a:ext cx="193852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AISHELL 400人訓練</a:t>
            </a:r>
            <a:endParaRPr lang="en-US" sz="800" dirty="0"/>
          </a:p>
          <a:p>
            <a:pPr algn="l" indent="0" marL="0">
              <a:buNone/>
            </a:pPr>
            <a:r>
              <a:rPr lang="en-US" sz="8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直接輸出逐幀3分類</a:t>
            </a:r>
            <a:endParaRPr lang="en-US" sz="800" dirty="0"/>
          </a:p>
        </p:txBody>
      </p:sp>
      <p:sp>
        <p:nvSpPr>
          <p:cNvPr id="64" name="Shape 62"/>
          <p:cNvSpPr/>
          <p:nvPr/>
        </p:nvSpPr>
        <p:spPr>
          <a:xfrm>
            <a:off x="6867144" y="777240"/>
            <a:ext cx="2084832" cy="502920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6867144" y="777240"/>
            <a:ext cx="20848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pVAD-SE (CAM++)</a:t>
            </a:r>
            <a:endParaRPr lang="en-US" sz="1000" dirty="0"/>
          </a:p>
        </p:txBody>
      </p:sp>
      <p:sp>
        <p:nvSpPr>
          <p:cNvPr id="66" name="Text 64"/>
          <p:cNvSpPr/>
          <p:nvPr/>
        </p:nvSpPr>
        <p:spPr>
          <a:xfrm>
            <a:off x="6867144" y="1033272"/>
            <a:ext cx="208483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並行管道 / 滑動窗口</a:t>
            </a:r>
            <a:endParaRPr lang="en-US" sz="900" dirty="0"/>
          </a:p>
        </p:txBody>
      </p:sp>
      <p:sp>
        <p:nvSpPr>
          <p:cNvPr id="67" name="Shape 65"/>
          <p:cNvSpPr/>
          <p:nvPr/>
        </p:nvSpPr>
        <p:spPr>
          <a:xfrm>
            <a:off x="6867144" y="1280160"/>
            <a:ext cx="2084832" cy="333756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68" name="Text 66"/>
          <p:cNvSpPr/>
          <p:nvPr/>
        </p:nvSpPr>
        <p:spPr>
          <a:xfrm>
            <a:off x="6940296" y="132588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參數量</a:t>
            </a:r>
            <a:endParaRPr lang="en-US" sz="900" dirty="0"/>
          </a:p>
        </p:txBody>
      </p:sp>
      <p:sp>
        <p:nvSpPr>
          <p:cNvPr id="69" name="Text 67"/>
          <p:cNvSpPr/>
          <p:nvPr/>
        </p:nvSpPr>
        <p:spPr>
          <a:xfrm>
            <a:off x="7872984" y="1325880"/>
            <a:ext cx="1005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6.9M+83K</a:t>
            </a:r>
            <a:endParaRPr lang="en-US" sz="900" dirty="0"/>
          </a:p>
        </p:txBody>
      </p:sp>
      <p:sp>
        <p:nvSpPr>
          <p:cNvPr id="70" name="Text 68"/>
          <p:cNvSpPr/>
          <p:nvPr/>
        </p:nvSpPr>
        <p:spPr>
          <a:xfrm>
            <a:off x="6940296" y="1764792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模型大小</a:t>
            </a:r>
            <a:endParaRPr lang="en-US" sz="900" dirty="0"/>
          </a:p>
        </p:txBody>
      </p:sp>
      <p:sp>
        <p:nvSpPr>
          <p:cNvPr id="71" name="Text 69"/>
          <p:cNvSpPr/>
          <p:nvPr/>
        </p:nvSpPr>
        <p:spPr>
          <a:xfrm>
            <a:off x="7872984" y="1764792"/>
            <a:ext cx="1005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27MB+523KB</a:t>
            </a:r>
            <a:endParaRPr lang="en-US" sz="900" dirty="0"/>
          </a:p>
        </p:txBody>
      </p:sp>
      <p:sp>
        <p:nvSpPr>
          <p:cNvPr id="72" name="Text 70"/>
          <p:cNvSpPr/>
          <p:nvPr/>
        </p:nvSpPr>
        <p:spPr>
          <a:xfrm>
            <a:off x="6940296" y="2203704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推論延遲</a:t>
            </a:r>
            <a:endParaRPr lang="en-US" sz="900" dirty="0"/>
          </a:p>
        </p:txBody>
      </p:sp>
      <p:sp>
        <p:nvSpPr>
          <p:cNvPr id="73" name="Text 71"/>
          <p:cNvSpPr/>
          <p:nvPr/>
        </p:nvSpPr>
        <p:spPr>
          <a:xfrm>
            <a:off x="7872984" y="2203704"/>
            <a:ext cx="1005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14.2ms/32幀</a:t>
            </a:r>
            <a:endParaRPr lang="en-US" sz="900" dirty="0"/>
          </a:p>
        </p:txBody>
      </p:sp>
      <p:sp>
        <p:nvSpPr>
          <p:cNvPr id="74" name="Text 72"/>
          <p:cNvSpPr/>
          <p:nvPr/>
        </p:nvSpPr>
        <p:spPr>
          <a:xfrm>
            <a:off x="6940296" y="2642616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輸入特徵</a:t>
            </a:r>
            <a:endParaRPr lang="en-US" sz="900" dirty="0"/>
          </a:p>
        </p:txBody>
      </p:sp>
      <p:sp>
        <p:nvSpPr>
          <p:cNvPr id="75" name="Text 73"/>
          <p:cNvSpPr/>
          <p:nvPr/>
        </p:nvSpPr>
        <p:spPr>
          <a:xfrm>
            <a:off x="7872984" y="2642616"/>
            <a:ext cx="1005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192維 embedding cosine</a:t>
            </a:r>
            <a:endParaRPr lang="en-US" sz="900" dirty="0"/>
          </a:p>
        </p:txBody>
      </p:sp>
      <p:sp>
        <p:nvSpPr>
          <p:cNvPr id="76" name="Text 74"/>
          <p:cNvSpPr/>
          <p:nvPr/>
        </p:nvSpPr>
        <p:spPr>
          <a:xfrm>
            <a:off x="6940296" y="3081528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精確率</a:t>
            </a:r>
            <a:endParaRPr lang="en-US" sz="900" dirty="0"/>
          </a:p>
        </p:txBody>
      </p:sp>
      <p:sp>
        <p:nvSpPr>
          <p:cNvPr id="77" name="Text 75"/>
          <p:cNvSpPr/>
          <p:nvPr/>
        </p:nvSpPr>
        <p:spPr>
          <a:xfrm>
            <a:off x="7872984" y="3081528"/>
            <a:ext cx="1005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76.8%</a:t>
            </a:r>
            <a:endParaRPr lang="en-US" sz="900" dirty="0"/>
          </a:p>
        </p:txBody>
      </p:sp>
      <p:sp>
        <p:nvSpPr>
          <p:cNvPr id="78" name="Text 76"/>
          <p:cNvSpPr/>
          <p:nvPr/>
        </p:nvSpPr>
        <p:spPr>
          <a:xfrm>
            <a:off x="6940296" y="352044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召回率</a:t>
            </a:r>
            <a:endParaRPr lang="en-US" sz="900" dirty="0"/>
          </a:p>
        </p:txBody>
      </p:sp>
      <p:sp>
        <p:nvSpPr>
          <p:cNvPr id="79" name="Text 77"/>
          <p:cNvSpPr/>
          <p:nvPr/>
        </p:nvSpPr>
        <p:spPr>
          <a:xfrm>
            <a:off x="7872984" y="3520440"/>
            <a:ext cx="1005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59.8%</a:t>
            </a:r>
            <a:endParaRPr lang="en-US" sz="900" dirty="0"/>
          </a:p>
        </p:txBody>
      </p:sp>
      <p:sp>
        <p:nvSpPr>
          <p:cNvPr id="80" name="Text 78"/>
          <p:cNvSpPr/>
          <p:nvPr/>
        </p:nvSpPr>
        <p:spPr>
          <a:xfrm>
            <a:off x="6940296" y="3959352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 Score</a:t>
            </a:r>
            <a:endParaRPr lang="en-US" sz="900" dirty="0"/>
          </a:p>
        </p:txBody>
      </p:sp>
      <p:sp>
        <p:nvSpPr>
          <p:cNvPr id="81" name="Text 79"/>
          <p:cNvSpPr/>
          <p:nvPr/>
        </p:nvSpPr>
        <p:spPr>
          <a:xfrm>
            <a:off x="7872984" y="3959352"/>
            <a:ext cx="1005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0.672</a:t>
            </a:r>
            <a:endParaRPr lang="en-US" sz="1000" dirty="0"/>
          </a:p>
        </p:txBody>
      </p:sp>
      <p:sp>
        <p:nvSpPr>
          <p:cNvPr id="82" name="Shape 80"/>
          <p:cNvSpPr/>
          <p:nvPr/>
        </p:nvSpPr>
        <p:spPr>
          <a:xfrm>
            <a:off x="6912864" y="4480560"/>
            <a:ext cx="1993392" cy="164592"/>
          </a:xfrm>
          <a:prstGeom prst="rect">
            <a:avLst/>
          </a:prstGeom>
          <a:solidFill>
            <a:srgbClr val="1A3A5C">
              <a:alpha val="20000"/>
            </a:srgbClr>
          </a:solidFill>
          <a:ln w="12700">
            <a:solidFill>
              <a:srgbClr val="CBD5E1">
                <a:alpha val="20000"/>
              </a:srgbClr>
            </a:solidFill>
            <a:prstDash val="solid"/>
          </a:ln>
        </p:spPr>
      </p:sp>
      <p:sp>
        <p:nvSpPr>
          <p:cNvPr id="83" name="Text 81"/>
          <p:cNvSpPr/>
          <p:nvPr/>
        </p:nvSpPr>
        <p:spPr>
          <a:xfrm>
            <a:off x="6940296" y="4480560"/>
            <a:ext cx="193852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全長sim=0.76</a:t>
            </a:r>
            <a:endParaRPr lang="en-US" sz="800" dirty="0"/>
          </a:p>
          <a:p>
            <a:pPr algn="l" indent="0" marL="0">
              <a:buNone/>
            </a:pPr>
            <a:r>
              <a:rPr lang="en-US" sz="800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0.5s窗口sim=0.39</a:t>
            </a:r>
            <a:endParaRPr lang="en-US" sz="800" dirty="0"/>
          </a:p>
        </p:txBody>
      </p:sp>
      <p:sp>
        <p:nvSpPr>
          <p:cNvPr id="84" name="Text 82"/>
          <p:cNvSpPr/>
          <p:nvPr/>
        </p:nvSpPr>
        <p:spPr>
          <a:xfrm>
            <a:off x="274320" y="4800600"/>
            <a:ext cx="8595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結論: 噪音增強使 SD 精確率從 76% 升至 98%，但召回率降低。Personal VAD 可解決逐幀偵測限制。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5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延遲與效率比較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365760" y="694944"/>
            <a:ext cx="8412480" cy="2286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graphicFrame>
        <p:nvGraphicFramePr>
          <p:cNvPr id="4" name="Chart 0" descr=""/>
          <p:cNvGraphicFramePr/>
          <p:nvPr/>
        </p:nvGraphicFramePr>
        <p:xfrm>
          <a:off x="274320" y="777240"/>
          <a:ext cx="5029200" cy="42062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40680" y="777240"/>
          <a:ext cx="3429000" cy="4206240"/>
        </p:xfrm>
        <a:graphic>
          <a:graphicData uri="http://schemas.openxmlformats.org/drawingml/2006/table">
            <a:tbl>
              <a:tblPr/>
              <a:tblGrid>
                <a:gridCol w="1051560"/>
                <a:gridCol w="777240"/>
                <a:gridCol w="685800"/>
                <a:gridCol w="685800"/>
                <a:gridCol w="502920"/>
              </a:tblGrid>
              <a:tr h="4673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模型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54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延遲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54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參數量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54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大小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54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540"/>
                    </a:solidFill>
                  </a:tcPr>
                </a:tc>
              </a:tr>
              <a:tr h="4673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CNN_SD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0.3ms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125K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~500KB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F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0.619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673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MLP_SD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0.5ms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54K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384KB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02809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0.706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673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BiLSTM_SD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~1ms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575K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~2.2MB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0.697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673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BiGRU+Attn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~1.5ms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695K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~2.7MB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0.700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673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GTCRN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1.08ms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82K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523KB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去噪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673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PersonalVAD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~1ms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124K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489KB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待測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673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CAM++ pVAD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14.2ms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6.9M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27MB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pVAD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673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pVAD-SE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3C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RTF=0.253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6.9M+83K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27.5MB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C729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0.672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5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綜合比較：各模型在四場景下的 F1 Score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365760" y="694944"/>
            <a:ext cx="8412480" cy="2286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pic>
        <p:nvPicPr>
          <p:cNvPr id="4" name="Image 0" descr="C:/Users/featuer/Desktop/pvad-se-pipeline/presentation/charts/precision_recall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274320" y="777240"/>
            <a:ext cx="4389120" cy="27432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846320" y="804672"/>
            <a:ext cx="4023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四場景 F1 表現分析</a:t>
            </a:r>
            <a:endParaRPr lang="en-US" sz="1300" dirty="0"/>
          </a:p>
        </p:txBody>
      </p:sp>
      <p:sp>
        <p:nvSpPr>
          <p:cNvPr id="6" name="Shape 3"/>
          <p:cNvSpPr/>
          <p:nvPr/>
        </p:nvSpPr>
        <p:spPr>
          <a:xfrm>
            <a:off x="4846320" y="1207008"/>
            <a:ext cx="4023360" cy="841248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4846320" y="1207008"/>
            <a:ext cx="64008" cy="841248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5029200" y="1243584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場景A (乾淨)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5029200" y="1536192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SD 模型優勢顯著，MLP interferer≤4%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pVAD-SE 因 cosine 漂移有誤判</a:t>
            </a:r>
            <a:endParaRPr lang="en-US" sz="900" dirty="0"/>
          </a:p>
        </p:txBody>
      </p:sp>
      <p:sp>
        <p:nvSpPr>
          <p:cNvPr id="10" name="Shape 7"/>
          <p:cNvSpPr/>
          <p:nvPr/>
        </p:nvSpPr>
        <p:spPr>
          <a:xfrm>
            <a:off x="4846320" y="2139696"/>
            <a:ext cx="4023360" cy="841248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846320" y="2139696"/>
            <a:ext cx="64008" cy="84124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5029200" y="2176272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場景B (重疊)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5029200" y="2468880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SD 模型在重疊段保持高 target ratio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pVAD-SE 1.0s 窗口略有延遲</a:t>
            </a:r>
            <a:endParaRPr lang="en-US" sz="900" dirty="0"/>
          </a:p>
        </p:txBody>
      </p:sp>
      <p:sp>
        <p:nvSpPr>
          <p:cNvPr id="14" name="Shape 11"/>
          <p:cNvSpPr/>
          <p:nvPr/>
        </p:nvSpPr>
        <p:spPr>
          <a:xfrm>
            <a:off x="4846320" y="3072384"/>
            <a:ext cx="4023360" cy="841248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4846320" y="3072384"/>
            <a:ext cx="64008" cy="841248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5029200" y="310896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場景C (噪音)</a:t>
            </a:r>
            <a:endParaRPr lang="en-US" sz="1100" dirty="0"/>
          </a:p>
        </p:txBody>
      </p:sp>
      <p:sp>
        <p:nvSpPr>
          <p:cNvPr id="17" name="Text 14"/>
          <p:cNvSpPr/>
          <p:nvPr/>
        </p:nvSpPr>
        <p:spPr>
          <a:xfrm>
            <a:off x="5029200" y="3401568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SD增強後干擾僅1-5%，pVAD-SE達83%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SD 模型的噪音魯棒性更佳</a:t>
            </a:r>
            <a:endParaRPr lang="en-US" sz="900" dirty="0"/>
          </a:p>
        </p:txBody>
      </p:sp>
      <p:sp>
        <p:nvSpPr>
          <p:cNvPr id="18" name="Shape 15"/>
          <p:cNvSpPr/>
          <p:nvPr/>
        </p:nvSpPr>
        <p:spPr>
          <a:xfrm>
            <a:off x="4846320" y="4005072"/>
            <a:ext cx="4023360" cy="841248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19" name="Shape 16"/>
          <p:cNvSpPr/>
          <p:nvPr/>
        </p:nvSpPr>
        <p:spPr>
          <a:xfrm>
            <a:off x="4846320" y="4005072"/>
            <a:ext cx="64008" cy="841248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5029200" y="4041648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場景D (FEMH)</a:t>
            </a:r>
            <a:endParaRPr lang="en-US" sz="1100" dirty="0"/>
          </a:p>
        </p:txBody>
      </p:sp>
      <p:sp>
        <p:nvSpPr>
          <p:cNvPr id="21" name="Text 18"/>
          <p:cNvSpPr/>
          <p:nvPr/>
        </p:nvSpPr>
        <p:spPr>
          <a:xfrm>
            <a:off x="5029200" y="4334256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SD 模型穩健，pVAD-SE 在異質語者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表現相近 F1≈0.672</a:t>
            </a:r>
            <a:endParaRPr lang="en-US" sz="900" dirty="0"/>
          </a:p>
        </p:txBody>
      </p:sp>
      <p:sp>
        <p:nvSpPr>
          <p:cNvPr id="22" name="Shape 19"/>
          <p:cNvSpPr/>
          <p:nvPr/>
        </p:nvSpPr>
        <p:spPr>
          <a:xfrm>
            <a:off x="274320" y="3630168"/>
            <a:ext cx="4389120" cy="1371600"/>
          </a:xfrm>
          <a:prstGeom prst="rect">
            <a:avLst/>
          </a:prstGeom>
          <a:solidFill>
            <a:srgbClr val="0A2540"/>
          </a:solidFill>
          <a:ln w="12700">
            <a:solidFill>
              <a:srgbClr val="0A2540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411480" y="3657600"/>
            <a:ext cx="41148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結論總結
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SD MLP (噪音增強) F1=0.706，在乾淨場景最優
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pVAD-SE F1=0.672，優勢是即時串流+去噪
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場景C: SD 精確 (98%), pVAD 召回高 (100% at 10-12.5s)
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最終選擇取決於：是否需要去噪、是否即時串流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5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音檔展示 — presentation/audio/ 資料夾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365760" y="694944"/>
            <a:ext cx="8412480" cy="2286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74320" y="777240"/>
            <a:ext cx="2834640" cy="41148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777240"/>
            <a:ext cx="2834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pVAD-SE 輸出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274320" y="1188720"/>
            <a:ext cx="2834640" cy="219456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11480" y="1261872"/>
            <a:ext cx="25603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scenario_a_mixed.wav (輸入)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411480" y="1764792"/>
            <a:ext cx="25603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scenario_a_pVAD-SE_output.wav (輸出)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411480" y="2267712"/>
            <a:ext cx="25603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scenario_a_denoised.wav (去噪)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11480" y="2770632"/>
            <a:ext cx="25603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scenario_b_*, scenario_c_*, scenario_d_*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246120" y="777240"/>
            <a:ext cx="2834640" cy="41148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246120" y="777240"/>
            <a:ext cx="2834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SD 模型輸出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3246120" y="1188720"/>
            <a:ext cx="2834640" cy="219456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383280" y="1261872"/>
            <a:ext cx="25603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scenario_a/b/c/d_MLP_output.wav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3383280" y="1764792"/>
            <a:ext cx="25603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scenario_a/b/c/d_BiLSTM_output.wav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383280" y="2267712"/>
            <a:ext cx="25603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scenario_a/b/c/d_BiGRU_Attn_output.wav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3383280" y="2770632"/>
            <a:ext cx="25603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scenario_a/b/c/d_CNN/LinearSVM/RF_output.wav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6217920" y="777240"/>
            <a:ext cx="2834640" cy="41148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217920" y="777240"/>
            <a:ext cx="2834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Enrollment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6217920" y="1188720"/>
            <a:ext cx="2834640" cy="219456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6355080" y="1261872"/>
            <a:ext cx="25603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enrollment_hsuan.wav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6355080" y="1764792"/>
            <a:ext cx="25603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b6dbc0fc_hsuan_7.wav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6355080" y="2267712"/>
            <a:ext cx="25603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SNR=44.1dB, 19.9s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6355080" y="2770632"/>
            <a:ext cx="25603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最高品質錄音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274320" y="3520440"/>
            <a:ext cx="8595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圖表資料夾 (presentation/charts/)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274320" y="3913632"/>
            <a:ext cx="1600200" cy="594360"/>
          </a:xfrm>
          <a:prstGeom prst="rect">
            <a:avLst/>
          </a:prstGeom>
          <a:solidFill>
            <a:srgbClr val="EFF6F8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74320" y="3913632"/>
            <a:ext cx="1600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 架構比較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274320" y="4206240"/>
            <a:ext cx="1600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f1_comparison.png</a:t>
            </a:r>
            <a:endParaRPr lang="en-US" sz="800" dirty="0"/>
          </a:p>
        </p:txBody>
      </p:sp>
      <p:sp>
        <p:nvSpPr>
          <p:cNvPr id="29" name="Shape 27"/>
          <p:cNvSpPr/>
          <p:nvPr/>
        </p:nvSpPr>
        <p:spPr>
          <a:xfrm>
            <a:off x="1993392" y="3913632"/>
            <a:ext cx="1600200" cy="594360"/>
          </a:xfrm>
          <a:prstGeom prst="rect">
            <a:avLst/>
          </a:prstGeom>
          <a:solidFill>
            <a:srgbClr val="EFF6F8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1993392" y="3913632"/>
            <a:ext cx="1600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場景C比較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1993392" y="4206240"/>
            <a:ext cx="1600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scenario_c_comparison.png</a:t>
            </a:r>
            <a:endParaRPr lang="en-US" sz="800" dirty="0"/>
          </a:p>
        </p:txBody>
      </p:sp>
      <p:sp>
        <p:nvSpPr>
          <p:cNvPr id="32" name="Shape 30"/>
          <p:cNvSpPr/>
          <p:nvPr/>
        </p:nvSpPr>
        <p:spPr>
          <a:xfrm>
            <a:off x="3712464" y="3913632"/>
            <a:ext cx="1600200" cy="594360"/>
          </a:xfrm>
          <a:prstGeom prst="rect">
            <a:avLst/>
          </a:prstGeom>
          <a:solidFill>
            <a:srgbClr val="EFF6F8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712464" y="3913632"/>
            <a:ext cx="1600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精確率-召回率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3712464" y="4206240"/>
            <a:ext cx="1600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precision_recall.png</a:t>
            </a:r>
            <a:endParaRPr lang="en-US" sz="800" dirty="0"/>
          </a:p>
        </p:txBody>
      </p:sp>
      <p:sp>
        <p:nvSpPr>
          <p:cNvPr id="35" name="Shape 33"/>
          <p:cNvSpPr/>
          <p:nvPr/>
        </p:nvSpPr>
        <p:spPr>
          <a:xfrm>
            <a:off x="5431536" y="3913632"/>
            <a:ext cx="1600200" cy="594360"/>
          </a:xfrm>
          <a:prstGeom prst="rect">
            <a:avLst/>
          </a:prstGeom>
          <a:solidFill>
            <a:srgbClr val="EFF6F8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431536" y="3913632"/>
            <a:ext cx="1600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參數量vs F1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5431536" y="4206240"/>
            <a:ext cx="1600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params_vs_f1.png</a:t>
            </a:r>
            <a:endParaRPr lang="en-US" sz="800" dirty="0"/>
          </a:p>
        </p:txBody>
      </p:sp>
      <p:sp>
        <p:nvSpPr>
          <p:cNvPr id="38" name="Shape 36"/>
          <p:cNvSpPr/>
          <p:nvPr/>
        </p:nvSpPr>
        <p:spPr>
          <a:xfrm>
            <a:off x="7150608" y="3913632"/>
            <a:ext cx="1600200" cy="594360"/>
          </a:xfrm>
          <a:prstGeom prst="rect">
            <a:avLst/>
          </a:prstGeom>
          <a:solidFill>
            <a:srgbClr val="EFF6F8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7150608" y="3913632"/>
            <a:ext cx="1600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pVAD各場景曲線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7150608" y="4206240"/>
            <a:ext cx="1600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scenario_a/b/c/d_pvad.png</a:t>
            </a:r>
            <a:endParaRPr lang="en-US" sz="800" dirty="0"/>
          </a:p>
        </p:txBody>
      </p:sp>
      <p:sp>
        <p:nvSpPr>
          <p:cNvPr id="41" name="Text 39"/>
          <p:cNvSpPr/>
          <p:nvPr/>
        </p:nvSpPr>
        <p:spPr>
          <a:xfrm>
            <a:off x="274320" y="4773168"/>
            <a:ext cx="8595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共 37 個音檔 | 8 個圖表 | 6種SD架構 × 4場景 + pVAD-SE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A25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73152"/>
            <a:ext cx="8412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結論與下一步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57200" y="731520"/>
            <a:ext cx="1965960" cy="13716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777240"/>
            <a:ext cx="1965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MLP (SD+增強)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57200" y="1097280"/>
            <a:ext cx="1965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F1=0.706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457200" y="1600200"/>
            <a:ext cx="196596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最高 F1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精確 98%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606040" y="731520"/>
            <a:ext cx="1965960" cy="137160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606040" y="777240"/>
            <a:ext cx="1965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pVAD-SE v3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2606040" y="1097280"/>
            <a:ext cx="1965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F1=0.672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2606040" y="1600200"/>
            <a:ext cx="196596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即時串流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RTF=0.253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754880" y="731520"/>
            <a:ext cx="1965960" cy="137160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754880" y="777240"/>
            <a:ext cx="1965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BiGRU+Attn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754880" y="1097280"/>
            <a:ext cx="1965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F1=0.700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4754880" y="1600200"/>
            <a:ext cx="196596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抗噪優秀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干擾&lt;2%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6903720" y="731520"/>
            <a:ext cx="1965960" cy="13716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903720" y="777240"/>
            <a:ext cx="1965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CAM++ 限制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903720" y="1097280"/>
            <a:ext cx="1965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0.5s→0.39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6903720" y="1600200"/>
            <a:ext cx="196596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需1s窗口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穩定sim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65760" y="2240280"/>
            <a:ext cx="8412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9ECF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下一步計畫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365760" y="2697480"/>
            <a:ext cx="365760" cy="329184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65760" y="2697480"/>
            <a:ext cx="3657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P0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822960" y="2715768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 VAD 訓練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3200400" y="2715768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ECF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用 AISHELL-TSE 資料集訓練逐幀 LSTM (124K), 取代 CAM++ 短窗口方案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365760" y="3136392"/>
            <a:ext cx="365760" cy="329184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65760" y="3136392"/>
            <a:ext cx="3657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P0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822960" y="3154680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改善目標召回率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3200400" y="3154680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ECF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SD 模型 recall=55%，可調整分類門檻或用 CTC Loss 改善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365760" y="3575304"/>
            <a:ext cx="365760" cy="329184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65760" y="3575304"/>
            <a:ext cx="3657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P1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822960" y="3593592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場景C 去噪前處理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3200400" y="3593592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ECF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在 SDMFCC 提取前先過 GTCRN，使 SD 模型受益於去噪效果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365760" y="4014216"/>
            <a:ext cx="365760" cy="329184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65760" y="4014216"/>
            <a:ext cx="3657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P1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822960" y="4032504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端到端優化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3200400" y="4032504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ECF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將 GTCRN + Personal VAD 合併 ONNX 推論，降低整體延遲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365760" y="4453128"/>
            <a:ext cx="365760" cy="329184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365760" y="4453128"/>
            <a:ext cx="3657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P2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822960" y="4471416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行動裝置部署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3200400" y="4471416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ECF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Android ONNX Runtime，目標 RTF&lt;0.5，結合 WebSocket 展示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365760" y="4828032"/>
            <a:ext cx="8412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FBFD0"/>
                </a:solidFill>
              </a:rPr>
              <a:t>pVAD-SE Pipeline v3  |  F1=0.672  |  RTF=0.253  |  2026.03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pVAD-SE Pipeline v3 最終報告</dc:title>
  <dc:subject>PptxGenJS Presentation</dc:subject>
  <dc:creator>pVAD-SE Research</dc:creator>
  <cp:lastModifiedBy>pVAD-SE Research</cp:lastModifiedBy>
  <cp:revision>1</cp:revision>
  <dcterms:created xsi:type="dcterms:W3CDTF">2026-03-21T20:35:46Z</dcterms:created>
  <dcterms:modified xsi:type="dcterms:W3CDTF">2026-03-21T20:35:46Z</dcterms:modified>
</cp:coreProperties>
</file>